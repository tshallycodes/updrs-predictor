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285750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157163" y="89297"/>
            <a:ext cx="19659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SYS.OP.PARKINSONS_CLASSIFIER // V.1.0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8236744" y="8929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CONFIDENTIAL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1357313" y="757461"/>
            <a:ext cx="6429375" cy="3628551"/>
          </a:xfrm>
          <a:prstGeom prst="rect">
            <a:avLst/>
          </a:prstGeom>
          <a:solidFill>
            <a:srgbClr val="F4F4F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43063" y="1061070"/>
            <a:ext cx="1418537" cy="1732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1643063" y="1061070"/>
            <a:ext cx="1418537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4F4F0"/>
                </a:solidFill>
              </a:rPr>
              <a:t>Technical Design Document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1643063" y="1377181"/>
            <a:ext cx="5857875" cy="2057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1A1A"/>
                </a:solidFill>
              </a:rPr>
              <a:t>Quantitative Motor Assessment: SVM-Based Classification of Parkinson's via Finger-Tapping Signal Analysis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1643063" y="3605947"/>
            <a:ext cx="5857875" cy="4800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A framework for moving from subjective observation to objective, quantifiable motor function evaluation.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14288" y="4843463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13" name="Shape 10"/>
          <p:cNvSpPr/>
          <p:nvPr/>
        </p:nvSpPr>
        <p:spPr>
          <a:xfrm>
            <a:off x="14288" y="4843463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157163" y="4918472"/>
            <a:ext cx="10805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DOC_ID: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PK_SVM_2026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8437466" y="4918472"/>
            <a:ext cx="549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PAGE 01/12</a:t>
            </a:r>
            <a:endParaRPr lang="en-US" sz="6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285750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157163" y="89297"/>
            <a:ext cx="25180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PROBLEM_STATEMENT // SUBJECTIVE_VS_OBJECTIVE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8236744" y="8929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CONFIDENTIAL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42913" y="1007269"/>
            <a:ext cx="8258175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From Subjective to Objective Assessment</a:t>
            </a:r>
            <a:endParaRPr lang="en-US" sz="1808" dirty="0"/>
          </a:p>
        </p:txBody>
      </p:sp>
      <p:sp>
        <p:nvSpPr>
          <p:cNvPr id="10" name="Shape 7"/>
          <p:cNvSpPr/>
          <p:nvPr/>
        </p:nvSpPr>
        <p:spPr>
          <a:xfrm>
            <a:off x="442913" y="1293019"/>
            <a:ext cx="3986213" cy="3407569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7225" y="1507331"/>
            <a:ext cx="3557588" cy="3196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CURRENT STATE: SUBJECTIVE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57225" y="1969889"/>
            <a:ext cx="35575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Clinical Observation: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 Diagnosis relies on visual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assessment of motor tasks.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657225" y="2524199"/>
            <a:ext cx="35575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Limitations: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 High variability between clinicians; difficult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to track subtle progression over time.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657225" y="3078510"/>
            <a:ext cx="3557588" cy="635794"/>
          </a:xfrm>
          <a:prstGeom prst="rect">
            <a:avLst/>
          </a:prstGeom>
          <a:solidFill>
            <a:srgbClr val="F4F4F0"/>
          </a:solidFill>
          <a:ln w="9144">
            <a:solidFill>
              <a:srgbClr val="1A1A1A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657225" y="3078510"/>
            <a:ext cx="3557588" cy="6357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&gt; STATUS: QUALITATIVE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 &gt; ERROR_RATE: HIGH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 &gt; REPRODUCIBILITY: LOW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4714875" y="1293019"/>
            <a:ext cx="3986213" cy="3407569"/>
          </a:xfrm>
          <a:prstGeom prst="rect">
            <a:avLst/>
          </a:prstGeom>
          <a:solidFill>
            <a:srgbClr val="F9F9F9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29188" y="1507331"/>
            <a:ext cx="3557588" cy="3196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TARGET STATE: OBJECTIVE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4929188" y="1969889"/>
            <a:ext cx="35575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Digital Quantification: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 Precise measurement of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Bradykinesia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 (slowness) and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Hypokinesia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 (small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movements).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929188" y="2729917"/>
            <a:ext cx="35575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Benefits: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 Standardized, reproducible metrics for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consistent longitudinal tracking.</a:t>
            </a:r>
            <a:endParaRPr lang="en-US" sz="885" dirty="0"/>
          </a:p>
        </p:txBody>
      </p:sp>
      <p:sp>
        <p:nvSpPr>
          <p:cNvPr id="20" name="Shape 17"/>
          <p:cNvSpPr/>
          <p:nvPr/>
        </p:nvSpPr>
        <p:spPr>
          <a:xfrm>
            <a:off x="4929188" y="3284227"/>
            <a:ext cx="3557588" cy="635794"/>
          </a:xfrm>
          <a:prstGeom prst="rect">
            <a:avLst/>
          </a:prstGeom>
          <a:solidFill>
            <a:srgbClr val="F4F4F0"/>
          </a:solidFill>
          <a:ln w="9144">
            <a:solidFill>
              <a:srgbClr val="1A1A1A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4929188" y="3284227"/>
            <a:ext cx="3557588" cy="6357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&gt; STATUS: QUANTITATIVE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 &gt; ERROR_RATE: MINIMIZED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 &gt; REPRODUCIBILITY: HIGH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4343386" y="2278856"/>
            <a:ext cx="457228" cy="585788"/>
          </a:xfrm>
          <a:prstGeom prst="rect">
            <a:avLst/>
          </a:prstGeom>
          <a:solidFill>
            <a:srgbClr val="F4F4F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43386" y="2278856"/>
            <a:ext cx="457228" cy="58578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45" dirty="0">
                <a:solidFill>
                  <a:srgbClr val="1A1A1A"/>
                </a:solidFill>
              </a:rPr>
              <a:t>→</a:t>
            </a:r>
            <a:endParaRPr lang="en-US" sz="2145" dirty="0"/>
          </a:p>
        </p:txBody>
      </p:sp>
      <p:sp>
        <p:nvSpPr>
          <p:cNvPr id="24" name="Shape 21"/>
          <p:cNvSpPr/>
          <p:nvPr/>
        </p:nvSpPr>
        <p:spPr>
          <a:xfrm>
            <a:off x="14288" y="4843463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25" name="Shape 22"/>
          <p:cNvSpPr/>
          <p:nvPr/>
        </p:nvSpPr>
        <p:spPr>
          <a:xfrm>
            <a:off x="14288" y="4843463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3"/>
          <p:cNvSpPr/>
          <p:nvPr/>
        </p:nvSpPr>
        <p:spPr>
          <a:xfrm>
            <a:off x="157163" y="4918472"/>
            <a:ext cx="10805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DOC_ID: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PK_SVM_2026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8437466" y="4918472"/>
            <a:ext cx="549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PAGE 02/12</a:t>
            </a:r>
            <a:endParaRPr lang="en-US" sz="6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285750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157163" y="89297"/>
            <a:ext cx="220750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DATA_INPUT // UNSTRUCTURED_TIME_SERIES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8236744" y="8929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CONFIDENTIAL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42913" y="1007269"/>
            <a:ext cx="8258175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Processing Unstructured Signals</a:t>
            </a:r>
            <a:endParaRPr lang="en-US" sz="1808" dirty="0"/>
          </a:p>
        </p:txBody>
      </p:sp>
      <p:sp>
        <p:nvSpPr>
          <p:cNvPr id="10" name="Text 7"/>
          <p:cNvSpPr/>
          <p:nvPr/>
        </p:nvSpPr>
        <p:spPr>
          <a:xfrm>
            <a:off x="442913" y="1364456"/>
            <a:ext cx="39862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Input Source: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Raw finger-tapping data captured from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sensor arrays.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42913" y="1964531"/>
            <a:ext cx="39862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D93025"/>
                </a:solidFill>
              </a:rPr>
              <a:t>KEY CHARACTERISTICS: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42913" y="2193131"/>
            <a:ext cx="39862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Unstructured Strings: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Data arrives as continuous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streams, not static tables.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42913" y="2650331"/>
            <a:ext cx="39862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Two Primary Signals: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</a:t>
            </a:r>
            <a:pPr algn="l" indent="0" marL="0">
              <a:lnSpc>
                <a:spcPts val="1800"/>
              </a:lnSpc>
              <a:buNone/>
            </a:pPr>
            <a:r>
              <a:rPr lang="en-US" sz="1050" i="1" dirty="0">
                <a:solidFill>
                  <a:srgbClr val="1A1A1A"/>
                </a:solidFill>
              </a:rPr>
              <a:t>Amplitude: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Magnitude of movement.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</a:t>
            </a:r>
            <a:pPr algn="l" indent="0" marL="0">
              <a:lnSpc>
                <a:spcPts val="1800"/>
              </a:lnSpc>
              <a:buNone/>
            </a:pPr>
            <a:r>
              <a:rPr lang="en-US" sz="1050" i="1" dirty="0">
                <a:solidFill>
                  <a:srgbClr val="1A1A1A"/>
                </a:solidFill>
              </a:rPr>
              <a:t>Time: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Temporal spacing (rhythm).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2913" y="3550444"/>
            <a:ext cx="3986213" cy="608614"/>
          </a:xfrm>
          <a:prstGeom prst="rect">
            <a:avLst/>
          </a:prstGeom>
          <a:solidFill>
            <a:srgbClr val="E0E0E0"/>
          </a:solidFill>
          <a:ln w="18288">
            <a:solidFill>
              <a:srgbClr val="1A1A1A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442913" y="3550444"/>
            <a:ext cx="3986213" cy="60861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&gt; CHALLENGE: Variable trial lengths &amp; sensor noise.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 &gt; REQUIREMENT: Must parse &amp; structure before analysis.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4714875" y="1364456"/>
            <a:ext cx="3986213" cy="2766027"/>
          </a:xfrm>
          <a:prstGeom prst="rect">
            <a:avLst/>
          </a:prstGeom>
          <a:solidFill>
            <a:srgbClr val="1A1A1A"/>
          </a:solidFill>
          <a:ln w="18288">
            <a:solidFill>
              <a:srgbClr val="D9302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14875" y="1364456"/>
            <a:ext cx="3986213" cy="276602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 &gt; INCOMING_STREAM_01: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 [120, 125, 118, 130, 122, 119, ...]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 &gt; INCOMING_STREAM_02 (TIMESTAMP):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 [0.05, 0.12, 0.18, 0.25, 0.33, ...]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 &gt; STATUS: UNPROCESSED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 &gt; FORMAT: STRING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 &gt; ENCODING: UTF-8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 &gt; SYSTEM_NOTE: Data is raw and requires immediate parsing.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 &gt; ...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 &gt; ...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FF00"/>
                </a:solidFill>
              </a:rPr>
              <a:t> &gt; END_OF_STREAM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14288" y="4843463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19" name="Shape 16"/>
          <p:cNvSpPr/>
          <p:nvPr/>
        </p:nvSpPr>
        <p:spPr>
          <a:xfrm>
            <a:off x="14288" y="4843463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7"/>
          <p:cNvSpPr/>
          <p:nvPr/>
        </p:nvSpPr>
        <p:spPr>
          <a:xfrm>
            <a:off x="4714875" y="1364456"/>
            <a:ext cx="3957638" cy="116086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1" name="Text 18"/>
          <p:cNvSpPr/>
          <p:nvPr/>
        </p:nvSpPr>
        <p:spPr>
          <a:xfrm>
            <a:off x="4714875" y="1364456"/>
            <a:ext cx="3957638" cy="116086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RAW_DATA_STREAM // INPUT_LOG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157163" y="4918472"/>
            <a:ext cx="10805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DOC_ID: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PK_SVM_2026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8437466" y="4918472"/>
            <a:ext cx="549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PAGE 03/12</a:t>
            </a:r>
            <a:endParaRPr lang="en-US" sz="6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49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285750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157163" y="89297"/>
            <a:ext cx="24436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SIGNAL_STANDARDIZATION // 1800_POINT_LOGIC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8236744" y="8929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CONFIDENTIAL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42913" y="1007269"/>
            <a:ext cx="8258175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1,800-Point Padding Logic</a:t>
            </a:r>
            <a:endParaRPr lang="en-US" sz="1808" dirty="0"/>
          </a:p>
        </p:txBody>
      </p:sp>
      <p:sp>
        <p:nvSpPr>
          <p:cNvPr id="10" name="Text 7"/>
          <p:cNvSpPr/>
          <p:nvPr/>
        </p:nvSpPr>
        <p:spPr>
          <a:xfrm>
            <a:off x="442913" y="1364456"/>
            <a:ext cx="3914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Objective: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Machine learning models require fixed-length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input vectors. Raw trial data varies in duration.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42913" y="2050256"/>
            <a:ext cx="3914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The Standard: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All signals are standardized to exactly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1,800 points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.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42913" y="2752130"/>
            <a:ext cx="162364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Implementation Logic: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42913" y="2980730"/>
            <a:ext cx="1188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&gt;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1789" y="2980730"/>
            <a:ext cx="85069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Short Trials: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442913" y="2980730"/>
            <a:ext cx="3751083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Padded with zeros or interpolated values to reach length.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42913" y="3509367"/>
            <a:ext cx="1188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&gt;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1789" y="3509367"/>
            <a:ext cx="81625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Long Trials: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42913" y="3509367"/>
            <a:ext cx="3825925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Truncated or resampled to fit the standard window.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42913" y="4164806"/>
            <a:ext cx="3914775" cy="608614"/>
          </a:xfrm>
          <a:prstGeom prst="rect">
            <a:avLst/>
          </a:prstGeom>
          <a:solidFill>
            <a:srgbClr val="E0E0E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2913" y="4164806"/>
            <a:ext cx="3914775" cy="60861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&gt; RESULT: UNIFORM DIMENSIONALITY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 &gt; READY_FOR: SVM_PIPELINE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4786313" y="2064348"/>
            <a:ext cx="3914775" cy="80724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29188" y="2221511"/>
            <a:ext cx="36290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SCENARIO A: SHORT SIGNAL (&lt; 1800)</a:t>
            </a:r>
            <a:endParaRPr lang="en-US" sz="683" dirty="0"/>
          </a:p>
        </p:txBody>
      </p:sp>
      <p:sp>
        <p:nvSpPr>
          <p:cNvPr id="23" name="Shape 20"/>
          <p:cNvSpPr/>
          <p:nvPr/>
        </p:nvSpPr>
        <p:spPr>
          <a:xfrm>
            <a:off x="4929188" y="2428680"/>
            <a:ext cx="3629025" cy="285750"/>
          </a:xfrm>
          <a:prstGeom prst="rect">
            <a:avLst/>
          </a:prstGeom>
          <a:solidFill>
            <a:srgbClr val="F9F9F9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929188" y="2428680"/>
            <a:ext cx="2177393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2"/>
          <p:cNvSpPr/>
          <p:nvPr/>
        </p:nvSpPr>
        <p:spPr>
          <a:xfrm>
            <a:off x="4929188" y="2428680"/>
            <a:ext cx="21773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RAW DATA</a:t>
            </a:r>
            <a:endParaRPr lang="en-US" sz="621" dirty="0"/>
          </a:p>
        </p:txBody>
      </p:sp>
      <p:sp>
        <p:nvSpPr>
          <p:cNvPr id="26" name="Shape 23"/>
          <p:cNvSpPr/>
          <p:nvPr/>
        </p:nvSpPr>
        <p:spPr>
          <a:xfrm>
            <a:off x="7106580" y="2428680"/>
            <a:ext cx="1451604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7106580" y="2428680"/>
            <a:ext cx="14288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5"/>
          <p:cNvSpPr/>
          <p:nvPr/>
        </p:nvSpPr>
        <p:spPr>
          <a:xfrm>
            <a:off x="7106580" y="2428680"/>
            <a:ext cx="1451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PADDING (000...)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8260491" y="2250086"/>
            <a:ext cx="3691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93025"/>
                </a:solidFill>
              </a:rPr>
              <a:t>1800 PTS</a:t>
            </a:r>
            <a:endParaRPr lang="en-US" sz="584" dirty="0"/>
          </a:p>
        </p:txBody>
      </p:sp>
      <p:sp>
        <p:nvSpPr>
          <p:cNvPr id="30" name="Shape 27"/>
          <p:cNvSpPr/>
          <p:nvPr/>
        </p:nvSpPr>
        <p:spPr>
          <a:xfrm>
            <a:off x="4786313" y="3071617"/>
            <a:ext cx="3914775" cy="95904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29188" y="3228780"/>
            <a:ext cx="36290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SCENARIO B: LONG SIGNAL (&gt; 1800)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4929188" y="3435948"/>
            <a:ext cx="3629025" cy="285750"/>
          </a:xfrm>
          <a:prstGeom prst="rect">
            <a:avLst/>
          </a:prstGeom>
          <a:solidFill>
            <a:srgbClr val="F9F9F9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929188" y="3435948"/>
            <a:ext cx="3629025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1"/>
          <p:cNvSpPr/>
          <p:nvPr/>
        </p:nvSpPr>
        <p:spPr>
          <a:xfrm>
            <a:off x="4929188" y="3435948"/>
            <a:ext cx="36290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RAW DATA (TRUNCATED)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8260491" y="3257355"/>
            <a:ext cx="3691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93025"/>
                </a:solidFill>
              </a:rPr>
              <a:t>1800 PTS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4929188" y="3757417"/>
            <a:ext cx="36290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D93025"/>
                </a:solidFill>
              </a:rPr>
              <a:t>* Excess data discarded</a:t>
            </a:r>
            <a:endParaRPr lang="en-US" sz="621" dirty="0"/>
          </a:p>
        </p:txBody>
      </p:sp>
      <p:sp>
        <p:nvSpPr>
          <p:cNvPr id="37" name="Shape 34"/>
          <p:cNvSpPr/>
          <p:nvPr/>
        </p:nvSpPr>
        <p:spPr>
          <a:xfrm>
            <a:off x="14288" y="4887720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38" name="Shape 35"/>
          <p:cNvSpPr/>
          <p:nvPr/>
        </p:nvSpPr>
        <p:spPr>
          <a:xfrm>
            <a:off x="14288" y="4887720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Text 36"/>
          <p:cNvSpPr/>
          <p:nvPr/>
        </p:nvSpPr>
        <p:spPr>
          <a:xfrm>
            <a:off x="157163" y="4962730"/>
            <a:ext cx="10805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DOC_ID: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PK_SVM_2026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8437466" y="4962730"/>
            <a:ext cx="549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PAGE 04/12</a:t>
            </a:r>
            <a:endParaRPr lang="en-US" sz="68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285750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157163" y="89297"/>
            <a:ext cx="22928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NOISE_REDUCTION // SAVITZKY_GOLAY_FILTER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8236744" y="8929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CONFIDENTIAL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42913" y="585788"/>
            <a:ext cx="8258175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42913" y="969764"/>
            <a:ext cx="8258175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585788"/>
            <a:ext cx="8258175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Savitzky-Golay Filter Implementation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442913" y="1184077"/>
            <a:ext cx="3623807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The Challenge: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 Raw sensor data is plagued by high-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frequency jitter and measurement artifacts that can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obscure true motor patterns.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614363" y="2086980"/>
            <a:ext cx="34523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Why Savitzky-Golay?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614363" y="2297720"/>
            <a:ext cx="3452357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Unlike simple moving averages which blunt signal peaks,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this polynomial smoothing filter preserves the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diagnostic integrity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 of peak heights and widths.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14363" y="3200623"/>
            <a:ext cx="34523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93025"/>
                </a:solidFill>
              </a:rPr>
              <a:t>Technical Benefit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614363" y="3411364"/>
            <a:ext cx="3452357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Maintains the sharp transitions required to accurately calculate velocity and inter-tap intervals.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352469" y="1184077"/>
            <a:ext cx="4348618" cy="28575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39701" y="1184077"/>
            <a:ext cx="1361387" cy="18752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7339701" y="1184077"/>
            <a:ext cx="1361387" cy="187523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FIG 2.1: SIGNAL SMOOTHING</a:t>
            </a:r>
            <a:endParaRPr lang="en-US" sz="584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344" y="1326952"/>
            <a:ext cx="4032647" cy="254317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4288" y="4843463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20" name="Shape 16"/>
          <p:cNvSpPr/>
          <p:nvPr/>
        </p:nvSpPr>
        <p:spPr>
          <a:xfrm>
            <a:off x="14288" y="4843463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7"/>
          <p:cNvSpPr/>
          <p:nvPr/>
        </p:nvSpPr>
        <p:spPr>
          <a:xfrm>
            <a:off x="157163" y="4918472"/>
            <a:ext cx="10805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DOC_ID: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PK_SVM_2026</a:t>
            </a:r>
            <a:endParaRPr lang="en-US" sz="683" dirty="0"/>
          </a:p>
        </p:txBody>
      </p:sp>
      <p:sp>
        <p:nvSpPr>
          <p:cNvPr id="22" name="Text 18"/>
          <p:cNvSpPr/>
          <p:nvPr/>
        </p:nvSpPr>
        <p:spPr>
          <a:xfrm>
            <a:off x="8437466" y="4918472"/>
            <a:ext cx="549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PAGE 05/12</a:t>
            </a:r>
            <a:endParaRPr lang="en-US" sz="6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285750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157163" y="89297"/>
            <a:ext cx="244441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FEATURE_EXTRACTION // QUANTITATIVE_METRICS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8236744" y="8929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CONFIDENTIAL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42913" y="1007269"/>
            <a:ext cx="8258175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Seven Quantitative Motor Metrics</a:t>
            </a:r>
            <a:endParaRPr lang="en-US" sz="1808" dirty="0"/>
          </a:p>
        </p:txBody>
      </p:sp>
      <p:sp>
        <p:nvSpPr>
          <p:cNvPr id="10" name="Shape 7"/>
          <p:cNvSpPr/>
          <p:nvPr/>
        </p:nvSpPr>
        <p:spPr>
          <a:xfrm>
            <a:off x="442913" y="1221581"/>
            <a:ext cx="4143375" cy="3041452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788" y="1364456"/>
            <a:ext cx="3843338" cy="90368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9"/>
          <p:cNvSpPr/>
          <p:nvPr/>
        </p:nvSpPr>
        <p:spPr>
          <a:xfrm>
            <a:off x="585788" y="1364456"/>
            <a:ext cx="28575" cy="90368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3" name="Text 10"/>
          <p:cNvSpPr/>
          <p:nvPr/>
        </p:nvSpPr>
        <p:spPr>
          <a:xfrm>
            <a:off x="728663" y="1507331"/>
            <a:ext cx="35575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AAAAAA"/>
                </a:solidFill>
              </a:rPr>
              <a:t>METHODOLOGY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728663" y="1659136"/>
            <a:ext cx="13111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4F4F0"/>
                </a:solidFill>
              </a:rPr>
              <a:t>&gt; scipy.signal.find_peaks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728663" y="1814513"/>
            <a:ext cx="22738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4F4F0"/>
                </a:solidFill>
              </a:rPr>
              <a:t>&gt; PARAMETERS: height=None, distance=15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728663" y="1969889"/>
            <a:ext cx="19780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4F4F0"/>
                </a:solidFill>
              </a:rPr>
              <a:t>&gt; OUTPUT: Peak Indices &amp; Properties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585788" y="2411016"/>
            <a:ext cx="384333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By identifying individual finger taps using peak detection algorithms, we transform continuous signals into discrete events. This allows for the calculation of statistical moments that describe motor performance.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857750" y="1221581"/>
            <a:ext cx="3843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AMPLITUDE METRICS (HYPOKINESIA)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6424994" y="1373386"/>
            <a:ext cx="9995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Mean Amplitude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8536335" y="1373386"/>
            <a:ext cx="1647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[μ]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6366421" y="1698427"/>
            <a:ext cx="11174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Std Dev Amplitude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8537116" y="1698427"/>
            <a:ext cx="1639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[σ]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857750" y="2178844"/>
            <a:ext cx="3843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TIMING METRICS (BRADYKINESIA/RHYTHM)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6216179" y="2330648"/>
            <a:ext cx="14171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Mean Inter-Tap Interval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8536363" y="2330648"/>
            <a:ext cx="1647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[μ]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6157578" y="2655689"/>
            <a:ext cx="15350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Std Dev Inter-Tap Interval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8537088" y="2655689"/>
            <a:ext cx="1639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[σ]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4857750" y="3136106"/>
            <a:ext cx="38433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KINETIC METRICS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6331009" y="3287911"/>
            <a:ext cx="12022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Velocity (Amp/Time)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8551152" y="3287911"/>
            <a:ext cx="1499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[v]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6345715" y="3612952"/>
            <a:ext cx="1166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Acceleration Profile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8544316" y="3612952"/>
            <a:ext cx="1567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[a]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6351045" y="3937992"/>
            <a:ext cx="11527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Fatigue Decrement</a:t>
            </a:r>
            <a:endParaRPr lang="en-US" sz="942" dirty="0"/>
          </a:p>
        </p:txBody>
      </p:sp>
      <p:sp>
        <p:nvSpPr>
          <p:cNvPr id="34" name="Text 31"/>
          <p:cNvSpPr/>
          <p:nvPr/>
        </p:nvSpPr>
        <p:spPr>
          <a:xfrm>
            <a:off x="8541720" y="3937992"/>
            <a:ext cx="1593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[Δ]</a:t>
            </a:r>
            <a:endParaRPr lang="en-US" sz="942" dirty="0"/>
          </a:p>
        </p:txBody>
      </p:sp>
      <p:sp>
        <p:nvSpPr>
          <p:cNvPr id="35" name="Shape 32"/>
          <p:cNvSpPr/>
          <p:nvPr/>
        </p:nvSpPr>
        <p:spPr>
          <a:xfrm>
            <a:off x="14288" y="4843463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36" name="Shape 33"/>
          <p:cNvSpPr/>
          <p:nvPr/>
        </p:nvSpPr>
        <p:spPr>
          <a:xfrm>
            <a:off x="14288" y="4843463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7" name="Text 34"/>
          <p:cNvSpPr/>
          <p:nvPr/>
        </p:nvSpPr>
        <p:spPr>
          <a:xfrm>
            <a:off x="157163" y="4918472"/>
            <a:ext cx="10805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DOC_ID: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PK_SVM_2026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8437466" y="4918472"/>
            <a:ext cx="549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PAGE 06/12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285750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157163" y="89297"/>
            <a:ext cx="183373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ALGORITHM // FREEZING_DETECTION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8236744" y="8929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CONFIDENTIAL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42913" y="1007269"/>
            <a:ext cx="8258175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Detecting Freezing: The "Long Pause"</a:t>
            </a:r>
            <a:endParaRPr lang="en-US" sz="1808" dirty="0"/>
          </a:p>
        </p:txBody>
      </p:sp>
      <p:sp>
        <p:nvSpPr>
          <p:cNvPr id="10" name="Shape 7"/>
          <p:cNvSpPr/>
          <p:nvPr/>
        </p:nvSpPr>
        <p:spPr>
          <a:xfrm>
            <a:off x="442913" y="1293019"/>
            <a:ext cx="2283740" cy="445759"/>
          </a:xfrm>
          <a:prstGeom prst="rect">
            <a:avLst/>
          </a:prstGeom>
          <a:solidFill>
            <a:srgbClr val="F4F4F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2913" y="1293019"/>
            <a:ext cx="2283740" cy="44575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IF (ITI &gt; 1.5 * Median_ITI)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42913" y="1853078"/>
            <a:ext cx="33510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Motor Freezing: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A hallmark symptom of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Parkinson's, characterized by a sudden inability to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initiate or continue movement.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42913" y="2538878"/>
            <a:ext cx="33510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Digital Biomarker: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We identify "Long Pauses" as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inter-tap intervals (ITI) that statistically exceed the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patient's baseline rhythm.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442913" y="3438990"/>
            <a:ext cx="3351061" cy="8343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Shape 12"/>
          <p:cNvSpPr/>
          <p:nvPr/>
        </p:nvSpPr>
        <p:spPr>
          <a:xfrm>
            <a:off x="442913" y="3438990"/>
            <a:ext cx="28575" cy="834340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6" name="Text 13"/>
          <p:cNvSpPr/>
          <p:nvPr/>
        </p:nvSpPr>
        <p:spPr>
          <a:xfrm>
            <a:off x="442913" y="3438990"/>
            <a:ext cx="3351061" cy="83434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&gt; STATUS: CRITICAL_BIOMARKER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 &gt; METHOD: ADAPTIVE_THRESHOLDING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 &gt; RESULT: QUANTIFIABLE_EVENT_COUNT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4222598" y="1293019"/>
            <a:ext cx="4478489" cy="216991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49914" y="1507331"/>
            <a:ext cx="40368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SIGNAL_VISUALIZATION // TAP_STREAM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4449914" y="2155627"/>
            <a:ext cx="28575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7"/>
          <p:cNvSpPr/>
          <p:nvPr/>
        </p:nvSpPr>
        <p:spPr>
          <a:xfrm>
            <a:off x="4378477" y="2012752"/>
            <a:ext cx="128588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</a:rPr>
              <a:t>TAP</a:t>
            </a:r>
            <a:endParaRPr lang="en-US" sz="516" dirty="0"/>
          </a:p>
        </p:txBody>
      </p:sp>
      <p:sp>
        <p:nvSpPr>
          <p:cNvPr id="21" name="Shape 18"/>
          <p:cNvSpPr/>
          <p:nvPr/>
        </p:nvSpPr>
        <p:spPr>
          <a:xfrm>
            <a:off x="4621364" y="2155627"/>
            <a:ext cx="28575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19"/>
          <p:cNvSpPr/>
          <p:nvPr/>
        </p:nvSpPr>
        <p:spPr>
          <a:xfrm>
            <a:off x="4549927" y="2012752"/>
            <a:ext cx="128588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</a:rPr>
              <a:t>TAP</a:t>
            </a:r>
            <a:endParaRPr lang="en-US" sz="516" dirty="0"/>
          </a:p>
        </p:txBody>
      </p:sp>
      <p:sp>
        <p:nvSpPr>
          <p:cNvPr id="23" name="Shape 20"/>
          <p:cNvSpPr/>
          <p:nvPr/>
        </p:nvSpPr>
        <p:spPr>
          <a:xfrm>
            <a:off x="4792814" y="2155627"/>
            <a:ext cx="28575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1"/>
          <p:cNvSpPr/>
          <p:nvPr/>
        </p:nvSpPr>
        <p:spPr>
          <a:xfrm>
            <a:off x="4721377" y="2012752"/>
            <a:ext cx="128588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</a:rPr>
              <a:t>TAP</a:t>
            </a:r>
            <a:endParaRPr lang="en-US" sz="516" dirty="0"/>
          </a:p>
        </p:txBody>
      </p:sp>
      <p:sp>
        <p:nvSpPr>
          <p:cNvPr id="25" name="Shape 22"/>
          <p:cNvSpPr/>
          <p:nvPr/>
        </p:nvSpPr>
        <p:spPr>
          <a:xfrm>
            <a:off x="4964264" y="2155627"/>
            <a:ext cx="28575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3"/>
          <p:cNvSpPr/>
          <p:nvPr/>
        </p:nvSpPr>
        <p:spPr>
          <a:xfrm>
            <a:off x="4892827" y="2012752"/>
            <a:ext cx="128588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</a:rPr>
              <a:t>TAP</a:t>
            </a:r>
            <a:endParaRPr lang="en-US" sz="516" dirty="0"/>
          </a:p>
        </p:txBody>
      </p:sp>
      <p:sp>
        <p:nvSpPr>
          <p:cNvPr id="27" name="Shape 24"/>
          <p:cNvSpPr/>
          <p:nvPr/>
        </p:nvSpPr>
        <p:spPr>
          <a:xfrm>
            <a:off x="5135714" y="2084189"/>
            <a:ext cx="2865286" cy="428625"/>
          </a:xfrm>
          <a:prstGeom prst="rect">
            <a:avLst/>
          </a:prstGeom>
          <a:solidFill>
            <a:srgbClr val="D93025">
              <a:alpha val="20000"/>
            </a:srgbClr>
          </a:solidFill>
          <a:ln w="18288">
            <a:solidFill>
              <a:srgbClr val="D93025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5994053" y="2220813"/>
            <a:ext cx="11486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93025"/>
                </a:solidFill>
              </a:rPr>
              <a:t>FREEZING DETECTED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6166870" y="2546747"/>
            <a:ext cx="75877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D93025"/>
                </a:solidFill>
              </a:rPr>
              <a:t>&gt; 1.5x MEDIAN ITI</a:t>
            </a:r>
            <a:endParaRPr lang="en-US" sz="584" dirty="0"/>
          </a:p>
        </p:txBody>
      </p:sp>
      <p:sp>
        <p:nvSpPr>
          <p:cNvPr id="30" name="Shape 27"/>
          <p:cNvSpPr/>
          <p:nvPr/>
        </p:nvSpPr>
        <p:spPr>
          <a:xfrm>
            <a:off x="8143875" y="2155627"/>
            <a:ext cx="28575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8"/>
          <p:cNvSpPr/>
          <p:nvPr/>
        </p:nvSpPr>
        <p:spPr>
          <a:xfrm>
            <a:off x="8072438" y="2012752"/>
            <a:ext cx="128588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</a:rPr>
              <a:t>TAP</a:t>
            </a:r>
            <a:endParaRPr lang="en-US" sz="516" dirty="0"/>
          </a:p>
        </p:txBody>
      </p:sp>
      <p:sp>
        <p:nvSpPr>
          <p:cNvPr id="32" name="Shape 29"/>
          <p:cNvSpPr/>
          <p:nvPr/>
        </p:nvSpPr>
        <p:spPr>
          <a:xfrm>
            <a:off x="8315325" y="2155627"/>
            <a:ext cx="28575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30"/>
          <p:cNvSpPr/>
          <p:nvPr/>
        </p:nvSpPr>
        <p:spPr>
          <a:xfrm>
            <a:off x="8243888" y="2012752"/>
            <a:ext cx="128588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1A1A1A"/>
                </a:solidFill>
              </a:rPr>
              <a:t>TAP</a:t>
            </a:r>
            <a:endParaRPr lang="en-US" sz="516" dirty="0"/>
          </a:p>
        </p:txBody>
      </p:sp>
      <p:sp>
        <p:nvSpPr>
          <p:cNvPr id="34" name="Text 31"/>
          <p:cNvSpPr/>
          <p:nvPr/>
        </p:nvSpPr>
        <p:spPr>
          <a:xfrm>
            <a:off x="4449914" y="2948583"/>
            <a:ext cx="4036861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Visual Logic: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 Regular rhythmic tapping is interrupted by a pause exceeding the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adaptive threshold, triggering a positive detection event.</a:t>
            </a:r>
            <a:endParaRPr lang="en-US" sz="727" dirty="0"/>
          </a:p>
        </p:txBody>
      </p:sp>
      <p:sp>
        <p:nvSpPr>
          <p:cNvPr id="35" name="Shape 32"/>
          <p:cNvSpPr/>
          <p:nvPr/>
        </p:nvSpPr>
        <p:spPr>
          <a:xfrm>
            <a:off x="14288" y="4843463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36" name="Shape 33"/>
          <p:cNvSpPr/>
          <p:nvPr/>
        </p:nvSpPr>
        <p:spPr>
          <a:xfrm>
            <a:off x="14288" y="4843463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7" name="Text 34"/>
          <p:cNvSpPr/>
          <p:nvPr/>
        </p:nvSpPr>
        <p:spPr>
          <a:xfrm>
            <a:off x="157163" y="4918472"/>
            <a:ext cx="10805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DOC_ID: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PK_SVM_2026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8437466" y="4918472"/>
            <a:ext cx="549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PAGE 07/12</a:t>
            </a:r>
            <a:endParaRPr lang="en-US" sz="6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560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285750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157163" y="89297"/>
            <a:ext cx="172942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THE_MODEL // SVM_ARCHITECTURE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8236744" y="8929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CONFIDENTIAL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42913" y="1007269"/>
            <a:ext cx="8258175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Linear SVM Architecture</a:t>
            </a:r>
            <a:endParaRPr lang="en-US" sz="1808" dirty="0"/>
          </a:p>
        </p:txBody>
      </p:sp>
      <p:sp>
        <p:nvSpPr>
          <p:cNvPr id="10" name="Text 7"/>
          <p:cNvSpPr/>
          <p:nvPr/>
        </p:nvSpPr>
        <p:spPr>
          <a:xfrm>
            <a:off x="442913" y="1221581"/>
            <a:ext cx="47405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3025"/>
                </a:solidFill>
              </a:rPr>
              <a:t>01. Linear Support Vector Machine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42913" y="1487686"/>
            <a:ext cx="474057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Chosen for high interpretability and robust performance on small-to-medium datasets. The linear kernel allows direct inspection of feature importance.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42913" y="2087761"/>
            <a:ext cx="47405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3025"/>
                </a:solidFill>
              </a:rPr>
              <a:t>02. Integrated StandardScaler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42913" y="2353866"/>
            <a:ext cx="474057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Features are normalized to zero mean and unit variance within the pipeline. This prevents features with larger scales (e.g., Amplitude) from dominating the objective function.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42913" y="3146822"/>
            <a:ext cx="474057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93025"/>
                </a:solidFill>
              </a:rPr>
              <a:t>03. Probabilistic Output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442913" y="3412927"/>
            <a:ext cx="474057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Instead of binary hard classification, the model outputs probability scores (0.0 to 1.0), enabling the "Uncertainty Band" logic.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442913" y="4227314"/>
            <a:ext cx="4740576" cy="75723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4"/>
          <p:cNvSpPr/>
          <p:nvPr/>
        </p:nvSpPr>
        <p:spPr>
          <a:xfrm>
            <a:off x="442913" y="4227314"/>
            <a:ext cx="28575" cy="757238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8" name="Text 15"/>
          <p:cNvSpPr/>
          <p:nvPr/>
        </p:nvSpPr>
        <p:spPr>
          <a:xfrm>
            <a:off x="442913" y="4227314"/>
            <a:ext cx="4740576" cy="7572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4F4F0"/>
                </a:solidFill>
              </a:rPr>
              <a:t>pipeline = Pipeline([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4F4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4F4F0"/>
                </a:solidFill>
              </a:rPr>
              <a:t> ('scaler', StandardScaler()),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4F4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4F4F0"/>
                </a:solidFill>
              </a:rPr>
              <a:t> ('svm', SVC(kernel='linear', probability=True))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4F4F0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4F4F0"/>
                </a:solidFill>
              </a:rPr>
              <a:t> ])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5840713" y="1376958"/>
            <a:ext cx="2860374" cy="39826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0713" y="1376958"/>
            <a:ext cx="2860374" cy="39826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RAW FEATURE VECTOR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7185161" y="1868091"/>
            <a:ext cx="1714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↓</a:t>
            </a:r>
            <a:endParaRPr lang="en-US" sz="1269" dirty="0"/>
          </a:p>
        </p:txBody>
      </p:sp>
      <p:sp>
        <p:nvSpPr>
          <p:cNvPr id="22" name="Shape 19"/>
          <p:cNvSpPr/>
          <p:nvPr/>
        </p:nvSpPr>
        <p:spPr>
          <a:xfrm>
            <a:off x="5840713" y="2225278"/>
            <a:ext cx="2860374" cy="553641"/>
          </a:xfrm>
          <a:prstGeom prst="rect">
            <a:avLst/>
          </a:prstGeom>
          <a:solidFill>
            <a:srgbClr val="E0E0E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40713" y="2225278"/>
            <a:ext cx="2860374" cy="55364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STANDARD SCALER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(Normalization)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7185161" y="2871788"/>
            <a:ext cx="1714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↓</a:t>
            </a:r>
            <a:endParaRPr lang="en-US" sz="1269" dirty="0"/>
          </a:p>
        </p:txBody>
      </p:sp>
      <p:sp>
        <p:nvSpPr>
          <p:cNvPr id="25" name="Shape 22"/>
          <p:cNvSpPr/>
          <p:nvPr/>
        </p:nvSpPr>
        <p:spPr>
          <a:xfrm>
            <a:off x="5840713" y="3228975"/>
            <a:ext cx="2860374" cy="553641"/>
          </a:xfrm>
          <a:prstGeom prst="rect">
            <a:avLst/>
          </a:prstGeom>
          <a:solidFill>
            <a:srgbClr val="E0E0E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40713" y="3228975"/>
            <a:ext cx="2860374" cy="55364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LINEAR SVM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(Hyperplane Separation)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7185161" y="3875484"/>
            <a:ext cx="1714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↓</a:t>
            </a:r>
            <a:endParaRPr lang="en-US" sz="1269" dirty="0"/>
          </a:p>
        </p:txBody>
      </p:sp>
      <p:sp>
        <p:nvSpPr>
          <p:cNvPr id="28" name="Shape 25"/>
          <p:cNvSpPr/>
          <p:nvPr/>
        </p:nvSpPr>
        <p:spPr>
          <a:xfrm>
            <a:off x="5840713" y="4232672"/>
            <a:ext cx="2860374" cy="553641"/>
          </a:xfrm>
          <a:prstGeom prst="rect">
            <a:avLst/>
          </a:prstGeom>
          <a:solidFill>
            <a:srgbClr val="FFFFFF"/>
          </a:solidFill>
          <a:ln w="18288">
            <a:solidFill>
              <a:srgbClr val="D9302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40713" y="4232672"/>
            <a:ext cx="2860374" cy="55364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93025"/>
                </a:solidFill>
              </a:rPr>
              <a:t>PROBABILITY SCORE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93025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D93025"/>
                </a:solidFill>
              </a:rPr>
              <a:t>(0.0 - 1.0)</a:t>
            </a:r>
            <a:endParaRPr lang="en-US" sz="784" dirty="0"/>
          </a:p>
        </p:txBody>
      </p:sp>
      <p:sp>
        <p:nvSpPr>
          <p:cNvPr id="30" name="Shape 27"/>
          <p:cNvSpPr/>
          <p:nvPr/>
        </p:nvSpPr>
        <p:spPr>
          <a:xfrm>
            <a:off x="14288" y="5127427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31" name="Shape 28"/>
          <p:cNvSpPr/>
          <p:nvPr/>
        </p:nvSpPr>
        <p:spPr>
          <a:xfrm>
            <a:off x="14288" y="5127427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29"/>
          <p:cNvSpPr/>
          <p:nvPr/>
        </p:nvSpPr>
        <p:spPr>
          <a:xfrm>
            <a:off x="157163" y="5202436"/>
            <a:ext cx="10805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DOC_ID: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PK_SVM_2026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8437466" y="5202436"/>
            <a:ext cx="549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PAGE 08/12</a:t>
            </a:r>
            <a:endParaRPr lang="en-US" sz="68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285750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157163" y="89297"/>
            <a:ext cx="17271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VALIDATION // STRATIFIED_K_FOLD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8236744" y="8929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CONFIDENTIAL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42913" y="1007269"/>
            <a:ext cx="8258175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Stratified K-Fold Cross-Validation</a:t>
            </a:r>
            <a:endParaRPr lang="en-US" sz="1808" dirty="0"/>
          </a:p>
        </p:txBody>
      </p:sp>
      <p:sp>
        <p:nvSpPr>
          <p:cNvPr id="10" name="Text 7"/>
          <p:cNvSpPr/>
          <p:nvPr/>
        </p:nvSpPr>
        <p:spPr>
          <a:xfrm>
            <a:off x="442913" y="1221581"/>
            <a:ext cx="39147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Objective: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 Ensure the model generalizes to unseen patients and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is not overfitting to specific training data.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42913" y="1775892"/>
            <a:ext cx="39147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Why Stratified?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 Parkinson's datasets are often imbalanced. Stratification ensures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that the ratio of Positive to Negative cases is preserved in every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fold, preventing biased training.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442913" y="2884512"/>
            <a:ext cx="3914775" cy="68044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2913" y="2884512"/>
            <a:ext cx="28575" cy="680442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4" name="Text 11"/>
          <p:cNvSpPr/>
          <p:nvPr/>
        </p:nvSpPr>
        <p:spPr>
          <a:xfrm>
            <a:off x="442913" y="2884512"/>
            <a:ext cx="3914775" cy="68044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&gt; METHOD: 5-FOLD CROSS-VALIDATION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 &gt; SPLIT: 80% TRAIN / 20% TEST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 &gt; ITERATIONS: 5 ROTATIONS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528638" y="3864992"/>
            <a:ext cx="103821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ACC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831996" y="4131097"/>
            <a:ext cx="4314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Accuracy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1881178" y="3864992"/>
            <a:ext cx="103821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SENS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2155571" y="4131097"/>
            <a:ext cx="4894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Sensitivity</a:t>
            </a:r>
            <a:endParaRPr lang="en-US" sz="621" dirty="0"/>
          </a:p>
        </p:txBody>
      </p:sp>
      <p:sp>
        <p:nvSpPr>
          <p:cNvPr id="19" name="Text 16"/>
          <p:cNvSpPr/>
          <p:nvPr/>
        </p:nvSpPr>
        <p:spPr>
          <a:xfrm>
            <a:off x="3233719" y="3864992"/>
            <a:ext cx="103821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SPEC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3511404" y="4131097"/>
            <a:ext cx="48281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A1A1A"/>
                </a:solidFill>
              </a:rPr>
              <a:t>Specificity</a:t>
            </a:r>
            <a:endParaRPr lang="en-US" sz="621" dirty="0"/>
          </a:p>
        </p:txBody>
      </p:sp>
      <p:sp>
        <p:nvSpPr>
          <p:cNvPr id="21" name="Shape 18"/>
          <p:cNvSpPr/>
          <p:nvPr/>
        </p:nvSpPr>
        <p:spPr>
          <a:xfrm>
            <a:off x="4786313" y="1221581"/>
            <a:ext cx="3914775" cy="330041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00625" y="1435894"/>
            <a:ext cx="3486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DATA PARTITIONING VISUALIZATION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5000625" y="1734145"/>
            <a:ext cx="34861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ITERATION 1</a:t>
            </a:r>
            <a:endParaRPr lang="en-US" sz="584" dirty="0"/>
          </a:p>
        </p:txBody>
      </p:sp>
      <p:sp>
        <p:nvSpPr>
          <p:cNvPr id="24" name="Shape 21"/>
          <p:cNvSpPr/>
          <p:nvPr/>
        </p:nvSpPr>
        <p:spPr>
          <a:xfrm>
            <a:off x="5007769" y="1893094"/>
            <a:ext cx="695790" cy="271463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5" name="Shape 22"/>
          <p:cNvSpPr/>
          <p:nvPr/>
        </p:nvSpPr>
        <p:spPr>
          <a:xfrm>
            <a:off x="5696415" y="1893094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3"/>
          <p:cNvSpPr/>
          <p:nvPr/>
        </p:nvSpPr>
        <p:spPr>
          <a:xfrm>
            <a:off x="5007769" y="1893094"/>
            <a:ext cx="69579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TEST</a:t>
            </a:r>
            <a:endParaRPr lang="en-US" sz="584" dirty="0"/>
          </a:p>
        </p:txBody>
      </p:sp>
      <p:sp>
        <p:nvSpPr>
          <p:cNvPr id="27" name="Shape 24"/>
          <p:cNvSpPr/>
          <p:nvPr/>
        </p:nvSpPr>
        <p:spPr>
          <a:xfrm>
            <a:off x="5697866" y="1893094"/>
            <a:ext cx="697241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28" name="Shape 25"/>
          <p:cNvSpPr/>
          <p:nvPr/>
        </p:nvSpPr>
        <p:spPr>
          <a:xfrm>
            <a:off x="6387964" y="1893094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6"/>
          <p:cNvSpPr/>
          <p:nvPr/>
        </p:nvSpPr>
        <p:spPr>
          <a:xfrm>
            <a:off x="5697866" y="1893094"/>
            <a:ext cx="697241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30" name="Shape 27"/>
          <p:cNvSpPr/>
          <p:nvPr/>
        </p:nvSpPr>
        <p:spPr>
          <a:xfrm>
            <a:off x="6390810" y="1893094"/>
            <a:ext cx="698664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31" name="Shape 28"/>
          <p:cNvSpPr/>
          <p:nvPr/>
        </p:nvSpPr>
        <p:spPr>
          <a:xfrm>
            <a:off x="7082330" y="1893094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29"/>
          <p:cNvSpPr/>
          <p:nvPr/>
        </p:nvSpPr>
        <p:spPr>
          <a:xfrm>
            <a:off x="6390810" y="1893094"/>
            <a:ext cx="69866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33" name="Shape 30"/>
          <p:cNvSpPr/>
          <p:nvPr/>
        </p:nvSpPr>
        <p:spPr>
          <a:xfrm>
            <a:off x="7086600" y="1893094"/>
            <a:ext cx="700088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34" name="Shape 31"/>
          <p:cNvSpPr/>
          <p:nvPr/>
        </p:nvSpPr>
        <p:spPr>
          <a:xfrm>
            <a:off x="7779544" y="1893094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5" name="Text 32"/>
          <p:cNvSpPr/>
          <p:nvPr/>
        </p:nvSpPr>
        <p:spPr>
          <a:xfrm>
            <a:off x="7086600" y="1893094"/>
            <a:ext cx="70008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36" name="Shape 33"/>
          <p:cNvSpPr/>
          <p:nvPr/>
        </p:nvSpPr>
        <p:spPr>
          <a:xfrm>
            <a:off x="7785236" y="1893094"/>
            <a:ext cx="694367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37" name="Text 34"/>
          <p:cNvSpPr/>
          <p:nvPr/>
        </p:nvSpPr>
        <p:spPr>
          <a:xfrm>
            <a:off x="7785236" y="1893094"/>
            <a:ext cx="69436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5000625" y="2243138"/>
            <a:ext cx="34861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ITERATION 2</a:t>
            </a:r>
            <a:endParaRPr lang="en-US" sz="584" dirty="0"/>
          </a:p>
        </p:txBody>
      </p:sp>
      <p:sp>
        <p:nvSpPr>
          <p:cNvPr id="39" name="Shape 36"/>
          <p:cNvSpPr/>
          <p:nvPr/>
        </p:nvSpPr>
        <p:spPr>
          <a:xfrm>
            <a:off x="5007769" y="2402086"/>
            <a:ext cx="695790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0" name="Shape 37"/>
          <p:cNvSpPr/>
          <p:nvPr/>
        </p:nvSpPr>
        <p:spPr>
          <a:xfrm>
            <a:off x="5696415" y="2402086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1" name="Text 38"/>
          <p:cNvSpPr/>
          <p:nvPr/>
        </p:nvSpPr>
        <p:spPr>
          <a:xfrm>
            <a:off x="5007769" y="2402086"/>
            <a:ext cx="69579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42" name="Shape 39"/>
          <p:cNvSpPr/>
          <p:nvPr/>
        </p:nvSpPr>
        <p:spPr>
          <a:xfrm>
            <a:off x="5697866" y="2402086"/>
            <a:ext cx="697241" cy="271463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43" name="Shape 40"/>
          <p:cNvSpPr/>
          <p:nvPr/>
        </p:nvSpPr>
        <p:spPr>
          <a:xfrm>
            <a:off x="6387964" y="2402086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4" name="Text 41"/>
          <p:cNvSpPr/>
          <p:nvPr/>
        </p:nvSpPr>
        <p:spPr>
          <a:xfrm>
            <a:off x="5697866" y="2402086"/>
            <a:ext cx="697241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TEST</a:t>
            </a:r>
            <a:endParaRPr lang="en-US" sz="584" dirty="0"/>
          </a:p>
        </p:txBody>
      </p:sp>
      <p:sp>
        <p:nvSpPr>
          <p:cNvPr id="45" name="Shape 42"/>
          <p:cNvSpPr/>
          <p:nvPr/>
        </p:nvSpPr>
        <p:spPr>
          <a:xfrm>
            <a:off x="6390810" y="2402086"/>
            <a:ext cx="698664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6" name="Shape 43"/>
          <p:cNvSpPr/>
          <p:nvPr/>
        </p:nvSpPr>
        <p:spPr>
          <a:xfrm>
            <a:off x="7082330" y="2402086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7" name="Text 44"/>
          <p:cNvSpPr/>
          <p:nvPr/>
        </p:nvSpPr>
        <p:spPr>
          <a:xfrm>
            <a:off x="6390810" y="2402086"/>
            <a:ext cx="69866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48" name="Shape 45"/>
          <p:cNvSpPr/>
          <p:nvPr/>
        </p:nvSpPr>
        <p:spPr>
          <a:xfrm>
            <a:off x="7086600" y="2402086"/>
            <a:ext cx="700088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9" name="Shape 46"/>
          <p:cNvSpPr/>
          <p:nvPr/>
        </p:nvSpPr>
        <p:spPr>
          <a:xfrm>
            <a:off x="7779544" y="2402086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0" name="Text 47"/>
          <p:cNvSpPr/>
          <p:nvPr/>
        </p:nvSpPr>
        <p:spPr>
          <a:xfrm>
            <a:off x="7086600" y="2402086"/>
            <a:ext cx="70008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51" name="Shape 48"/>
          <p:cNvSpPr/>
          <p:nvPr/>
        </p:nvSpPr>
        <p:spPr>
          <a:xfrm>
            <a:off x="7785236" y="2402086"/>
            <a:ext cx="694367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52" name="Text 49"/>
          <p:cNvSpPr/>
          <p:nvPr/>
        </p:nvSpPr>
        <p:spPr>
          <a:xfrm>
            <a:off x="7785236" y="2402086"/>
            <a:ext cx="69436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53" name="Text 50"/>
          <p:cNvSpPr/>
          <p:nvPr/>
        </p:nvSpPr>
        <p:spPr>
          <a:xfrm>
            <a:off x="5000625" y="2752130"/>
            <a:ext cx="34861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ITERATION 3</a:t>
            </a:r>
            <a:endParaRPr lang="en-US" sz="584" dirty="0"/>
          </a:p>
        </p:txBody>
      </p:sp>
      <p:sp>
        <p:nvSpPr>
          <p:cNvPr id="54" name="Shape 51"/>
          <p:cNvSpPr/>
          <p:nvPr/>
        </p:nvSpPr>
        <p:spPr>
          <a:xfrm>
            <a:off x="5007769" y="2911078"/>
            <a:ext cx="695790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55" name="Shape 52"/>
          <p:cNvSpPr/>
          <p:nvPr/>
        </p:nvSpPr>
        <p:spPr>
          <a:xfrm>
            <a:off x="5696415" y="2911078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6" name="Text 53"/>
          <p:cNvSpPr/>
          <p:nvPr/>
        </p:nvSpPr>
        <p:spPr>
          <a:xfrm>
            <a:off x="5007769" y="2911078"/>
            <a:ext cx="69579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57" name="Shape 54"/>
          <p:cNvSpPr/>
          <p:nvPr/>
        </p:nvSpPr>
        <p:spPr>
          <a:xfrm>
            <a:off x="5697866" y="2911078"/>
            <a:ext cx="697241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58" name="Shape 55"/>
          <p:cNvSpPr/>
          <p:nvPr/>
        </p:nvSpPr>
        <p:spPr>
          <a:xfrm>
            <a:off x="6387964" y="2911078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9" name="Text 56"/>
          <p:cNvSpPr/>
          <p:nvPr/>
        </p:nvSpPr>
        <p:spPr>
          <a:xfrm>
            <a:off x="5697866" y="2911078"/>
            <a:ext cx="697241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60" name="Shape 57"/>
          <p:cNvSpPr/>
          <p:nvPr/>
        </p:nvSpPr>
        <p:spPr>
          <a:xfrm>
            <a:off x="6390810" y="2911078"/>
            <a:ext cx="698664" cy="271463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61" name="Shape 58"/>
          <p:cNvSpPr/>
          <p:nvPr/>
        </p:nvSpPr>
        <p:spPr>
          <a:xfrm>
            <a:off x="7082330" y="2911078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2" name="Text 59"/>
          <p:cNvSpPr/>
          <p:nvPr/>
        </p:nvSpPr>
        <p:spPr>
          <a:xfrm>
            <a:off x="6390810" y="2911078"/>
            <a:ext cx="69866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TEST</a:t>
            </a:r>
            <a:endParaRPr lang="en-US" sz="584" dirty="0"/>
          </a:p>
        </p:txBody>
      </p:sp>
      <p:sp>
        <p:nvSpPr>
          <p:cNvPr id="63" name="Shape 60"/>
          <p:cNvSpPr/>
          <p:nvPr/>
        </p:nvSpPr>
        <p:spPr>
          <a:xfrm>
            <a:off x="7086600" y="2911078"/>
            <a:ext cx="700088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64" name="Shape 61"/>
          <p:cNvSpPr/>
          <p:nvPr/>
        </p:nvSpPr>
        <p:spPr>
          <a:xfrm>
            <a:off x="7779544" y="2911078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5" name="Text 62"/>
          <p:cNvSpPr/>
          <p:nvPr/>
        </p:nvSpPr>
        <p:spPr>
          <a:xfrm>
            <a:off x="7086600" y="2911078"/>
            <a:ext cx="70008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66" name="Shape 63"/>
          <p:cNvSpPr/>
          <p:nvPr/>
        </p:nvSpPr>
        <p:spPr>
          <a:xfrm>
            <a:off x="7785236" y="2911078"/>
            <a:ext cx="694367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67" name="Text 64"/>
          <p:cNvSpPr/>
          <p:nvPr/>
        </p:nvSpPr>
        <p:spPr>
          <a:xfrm>
            <a:off x="7785236" y="2911078"/>
            <a:ext cx="69436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68" name="Text 65"/>
          <p:cNvSpPr/>
          <p:nvPr/>
        </p:nvSpPr>
        <p:spPr>
          <a:xfrm>
            <a:off x="5000625" y="3261122"/>
            <a:ext cx="34861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ITERATION 4</a:t>
            </a:r>
            <a:endParaRPr lang="en-US" sz="584" dirty="0"/>
          </a:p>
        </p:txBody>
      </p:sp>
      <p:sp>
        <p:nvSpPr>
          <p:cNvPr id="69" name="Shape 66"/>
          <p:cNvSpPr/>
          <p:nvPr/>
        </p:nvSpPr>
        <p:spPr>
          <a:xfrm>
            <a:off x="5007769" y="3420070"/>
            <a:ext cx="695790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70" name="Shape 67"/>
          <p:cNvSpPr/>
          <p:nvPr/>
        </p:nvSpPr>
        <p:spPr>
          <a:xfrm>
            <a:off x="5696415" y="3420070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1" name="Text 68"/>
          <p:cNvSpPr/>
          <p:nvPr/>
        </p:nvSpPr>
        <p:spPr>
          <a:xfrm>
            <a:off x="5007769" y="3420070"/>
            <a:ext cx="69579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72" name="Shape 69"/>
          <p:cNvSpPr/>
          <p:nvPr/>
        </p:nvSpPr>
        <p:spPr>
          <a:xfrm>
            <a:off x="5697866" y="3420070"/>
            <a:ext cx="697241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73" name="Shape 70"/>
          <p:cNvSpPr/>
          <p:nvPr/>
        </p:nvSpPr>
        <p:spPr>
          <a:xfrm>
            <a:off x="6387964" y="3420070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4" name="Text 71"/>
          <p:cNvSpPr/>
          <p:nvPr/>
        </p:nvSpPr>
        <p:spPr>
          <a:xfrm>
            <a:off x="5697866" y="3420070"/>
            <a:ext cx="697241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75" name="Shape 72"/>
          <p:cNvSpPr/>
          <p:nvPr/>
        </p:nvSpPr>
        <p:spPr>
          <a:xfrm>
            <a:off x="6390810" y="3420070"/>
            <a:ext cx="698664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76" name="Shape 73"/>
          <p:cNvSpPr/>
          <p:nvPr/>
        </p:nvSpPr>
        <p:spPr>
          <a:xfrm>
            <a:off x="7082330" y="3420070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7" name="Text 74"/>
          <p:cNvSpPr/>
          <p:nvPr/>
        </p:nvSpPr>
        <p:spPr>
          <a:xfrm>
            <a:off x="6390810" y="3420070"/>
            <a:ext cx="69866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78" name="Shape 75"/>
          <p:cNvSpPr/>
          <p:nvPr/>
        </p:nvSpPr>
        <p:spPr>
          <a:xfrm>
            <a:off x="7086600" y="3420070"/>
            <a:ext cx="700088" cy="271463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79" name="Shape 76"/>
          <p:cNvSpPr/>
          <p:nvPr/>
        </p:nvSpPr>
        <p:spPr>
          <a:xfrm>
            <a:off x="7779544" y="3420070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0" name="Text 77"/>
          <p:cNvSpPr/>
          <p:nvPr/>
        </p:nvSpPr>
        <p:spPr>
          <a:xfrm>
            <a:off x="7086600" y="3420070"/>
            <a:ext cx="70008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TEST</a:t>
            </a:r>
            <a:endParaRPr lang="en-US" sz="584" dirty="0"/>
          </a:p>
        </p:txBody>
      </p:sp>
      <p:sp>
        <p:nvSpPr>
          <p:cNvPr id="81" name="Shape 78"/>
          <p:cNvSpPr/>
          <p:nvPr/>
        </p:nvSpPr>
        <p:spPr>
          <a:xfrm>
            <a:off x="7785236" y="3420070"/>
            <a:ext cx="694367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82" name="Text 79"/>
          <p:cNvSpPr/>
          <p:nvPr/>
        </p:nvSpPr>
        <p:spPr>
          <a:xfrm>
            <a:off x="7785236" y="3420070"/>
            <a:ext cx="69436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83" name="Text 80"/>
          <p:cNvSpPr/>
          <p:nvPr/>
        </p:nvSpPr>
        <p:spPr>
          <a:xfrm>
            <a:off x="5000625" y="3770114"/>
            <a:ext cx="34861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ITERATION 5</a:t>
            </a:r>
            <a:endParaRPr lang="en-US" sz="584" dirty="0"/>
          </a:p>
        </p:txBody>
      </p:sp>
      <p:sp>
        <p:nvSpPr>
          <p:cNvPr id="84" name="Shape 81"/>
          <p:cNvSpPr/>
          <p:nvPr/>
        </p:nvSpPr>
        <p:spPr>
          <a:xfrm>
            <a:off x="5007769" y="3929063"/>
            <a:ext cx="695790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85" name="Shape 82"/>
          <p:cNvSpPr/>
          <p:nvPr/>
        </p:nvSpPr>
        <p:spPr>
          <a:xfrm>
            <a:off x="5696415" y="3929063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6" name="Text 83"/>
          <p:cNvSpPr/>
          <p:nvPr/>
        </p:nvSpPr>
        <p:spPr>
          <a:xfrm>
            <a:off x="5007769" y="3929063"/>
            <a:ext cx="69579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87" name="Shape 84"/>
          <p:cNvSpPr/>
          <p:nvPr/>
        </p:nvSpPr>
        <p:spPr>
          <a:xfrm>
            <a:off x="5697866" y="3929063"/>
            <a:ext cx="697241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88" name="Shape 85"/>
          <p:cNvSpPr/>
          <p:nvPr/>
        </p:nvSpPr>
        <p:spPr>
          <a:xfrm>
            <a:off x="6387964" y="3929063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9" name="Text 86"/>
          <p:cNvSpPr/>
          <p:nvPr/>
        </p:nvSpPr>
        <p:spPr>
          <a:xfrm>
            <a:off x="5697866" y="3929063"/>
            <a:ext cx="697241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90" name="Shape 87"/>
          <p:cNvSpPr/>
          <p:nvPr/>
        </p:nvSpPr>
        <p:spPr>
          <a:xfrm>
            <a:off x="6390810" y="3929063"/>
            <a:ext cx="698664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91" name="Shape 88"/>
          <p:cNvSpPr/>
          <p:nvPr/>
        </p:nvSpPr>
        <p:spPr>
          <a:xfrm>
            <a:off x="7082330" y="3929063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2" name="Text 89"/>
          <p:cNvSpPr/>
          <p:nvPr/>
        </p:nvSpPr>
        <p:spPr>
          <a:xfrm>
            <a:off x="6390810" y="3929063"/>
            <a:ext cx="69866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93" name="Shape 90"/>
          <p:cNvSpPr/>
          <p:nvPr/>
        </p:nvSpPr>
        <p:spPr>
          <a:xfrm>
            <a:off x="7086600" y="3929063"/>
            <a:ext cx="700088" cy="271463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94" name="Shape 91"/>
          <p:cNvSpPr/>
          <p:nvPr/>
        </p:nvSpPr>
        <p:spPr>
          <a:xfrm>
            <a:off x="7779544" y="3929063"/>
            <a:ext cx="7144" cy="2714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5" name="Text 92"/>
          <p:cNvSpPr/>
          <p:nvPr/>
        </p:nvSpPr>
        <p:spPr>
          <a:xfrm>
            <a:off x="7086600" y="3929063"/>
            <a:ext cx="70008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TRAIN</a:t>
            </a:r>
            <a:endParaRPr lang="en-US" sz="584" dirty="0"/>
          </a:p>
        </p:txBody>
      </p:sp>
      <p:sp>
        <p:nvSpPr>
          <p:cNvPr id="96" name="Shape 93"/>
          <p:cNvSpPr/>
          <p:nvPr/>
        </p:nvSpPr>
        <p:spPr>
          <a:xfrm>
            <a:off x="7785236" y="3929063"/>
            <a:ext cx="694367" cy="271463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97" name="Text 94"/>
          <p:cNvSpPr/>
          <p:nvPr/>
        </p:nvSpPr>
        <p:spPr>
          <a:xfrm>
            <a:off x="7785236" y="3929063"/>
            <a:ext cx="69436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TEST</a:t>
            </a:r>
            <a:endParaRPr lang="en-US" sz="584" dirty="0"/>
          </a:p>
        </p:txBody>
      </p:sp>
      <p:sp>
        <p:nvSpPr>
          <p:cNvPr id="98" name="Shape 95"/>
          <p:cNvSpPr/>
          <p:nvPr/>
        </p:nvSpPr>
        <p:spPr>
          <a:xfrm>
            <a:off x="14288" y="4843463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99" name="Shape 96"/>
          <p:cNvSpPr/>
          <p:nvPr/>
        </p:nvSpPr>
        <p:spPr>
          <a:xfrm>
            <a:off x="14288" y="4843463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0" name="Text 97"/>
          <p:cNvSpPr/>
          <p:nvPr/>
        </p:nvSpPr>
        <p:spPr>
          <a:xfrm>
            <a:off x="157163" y="4918472"/>
            <a:ext cx="10805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DOC_ID: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PK_SVM_2026</a:t>
            </a:r>
            <a:endParaRPr lang="en-US" sz="683" dirty="0"/>
          </a:p>
        </p:txBody>
      </p:sp>
      <p:sp>
        <p:nvSpPr>
          <p:cNvPr id="101" name="Text 98"/>
          <p:cNvSpPr/>
          <p:nvPr/>
        </p:nvSpPr>
        <p:spPr>
          <a:xfrm>
            <a:off x="8437466" y="4918472"/>
            <a:ext cx="549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PAGE 09/12</a:t>
            </a:r>
            <a:endParaRPr lang="en-US" sz="68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285750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157163" y="89297"/>
            <a:ext cx="27397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DUAL_MODEL_SYSTEM // LATERALIZED_CLASSIFICATION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8236744" y="8929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CONFIDENTIAL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42913" y="1007269"/>
            <a:ext cx="8258175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Hand-Specific Classification</a:t>
            </a:r>
            <a:endParaRPr lang="en-US" sz="1808" dirty="0"/>
          </a:p>
        </p:txBody>
      </p:sp>
      <p:sp>
        <p:nvSpPr>
          <p:cNvPr id="10" name="Shape 7"/>
          <p:cNvSpPr/>
          <p:nvPr/>
        </p:nvSpPr>
        <p:spPr>
          <a:xfrm>
            <a:off x="442913" y="1293019"/>
            <a:ext cx="3986213" cy="190559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788" y="1207294"/>
            <a:ext cx="831382" cy="11608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585788" y="1207294"/>
            <a:ext cx="831382" cy="116086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SERIALIZED_MODEL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657225" y="1507331"/>
            <a:ext cx="3543300" cy="31253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svm_left.pkl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657225" y="1927027"/>
            <a:ext cx="35433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Target: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Non-dominant hand motor patterns.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Training Data: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Exclusively left-hand trials.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Purpose: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Detects subtle bradykinesia in the left limb, often the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site of initial onset.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4700588" y="1293019"/>
            <a:ext cx="4000500" cy="190559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57750" y="1207294"/>
            <a:ext cx="831382" cy="11608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4857750" y="1207294"/>
            <a:ext cx="831382" cy="116086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SERIALIZED_MODEL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4929188" y="1507331"/>
            <a:ext cx="3557588" cy="31253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93025"/>
                </a:solidFill>
              </a:rPr>
              <a:t>svm_right.pkl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929188" y="1927027"/>
            <a:ext cx="355758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Target: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Dominant hand motor patterns.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Training Data: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Exclusively right-hand trials.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Purpose: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Accounts for higher baseline dexterity and different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fatigue profiles.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442913" y="3455789"/>
            <a:ext cx="8258175" cy="1177937"/>
          </a:xfrm>
          <a:prstGeom prst="rect">
            <a:avLst/>
          </a:prstGeom>
          <a:solidFill>
            <a:srgbClr val="E0E0E0"/>
          </a:solidFill>
          <a:ln w="18288">
            <a:solidFill>
              <a:srgbClr val="1A1A1A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85788" y="3598664"/>
            <a:ext cx="79724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Why Two Models?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1714500" y="3845123"/>
            <a:ext cx="5715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Parkinson's disease typically presents with </a:t>
            </a:r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unilateral symptom onset</a:t>
            </a:r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. A single global model </a:t>
            </a:r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would average out these asymmetries, potentially missing early-stage indicators that appear </a:t>
            </a:r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on only one side of the body.</a:t>
            </a:r>
            <a:endParaRPr lang="en-US" sz="942" dirty="0"/>
          </a:p>
        </p:txBody>
      </p:sp>
      <p:sp>
        <p:nvSpPr>
          <p:cNvPr id="23" name="Shape 20"/>
          <p:cNvSpPr/>
          <p:nvPr/>
        </p:nvSpPr>
        <p:spPr>
          <a:xfrm>
            <a:off x="14288" y="4843463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24" name="Shape 21"/>
          <p:cNvSpPr/>
          <p:nvPr/>
        </p:nvSpPr>
        <p:spPr>
          <a:xfrm>
            <a:off x="14288" y="4843463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2"/>
          <p:cNvSpPr/>
          <p:nvPr/>
        </p:nvSpPr>
        <p:spPr>
          <a:xfrm>
            <a:off x="157163" y="4918472"/>
            <a:ext cx="10805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DOC_ID: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PK_SVM_2026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8437466" y="4918472"/>
            <a:ext cx="549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PAGE 10/12</a:t>
            </a:r>
            <a:endParaRPr lang="en-US" sz="68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285750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157163" y="89297"/>
            <a:ext cx="187596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SAFETY_LOGIC // UNCERTAINTY_BAND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8236744" y="8929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CONFIDENTIAL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42913" y="1007269"/>
            <a:ext cx="8258175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The Uncertainty Band</a:t>
            </a:r>
            <a:endParaRPr lang="en-US" sz="1808" dirty="0"/>
          </a:p>
        </p:txBody>
      </p:sp>
      <p:sp>
        <p:nvSpPr>
          <p:cNvPr id="10" name="Text 7"/>
          <p:cNvSpPr/>
          <p:nvPr/>
        </p:nvSpPr>
        <p:spPr>
          <a:xfrm>
            <a:off x="442913" y="1293019"/>
            <a:ext cx="82581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PROBABILITY OUTPUT SPECTRUM (0.0 - 1.0)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457200" y="1534120"/>
            <a:ext cx="3291818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734730" y="1534120"/>
            <a:ext cx="14288" cy="5429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1534120"/>
            <a:ext cx="329181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NEGATIVE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3749018" y="1534120"/>
            <a:ext cx="1234418" cy="542925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969148" y="1534120"/>
            <a:ext cx="14288" cy="5429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3749018" y="1534120"/>
            <a:ext cx="123441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UNCERTAIN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4983435" y="1534120"/>
            <a:ext cx="3703309" cy="542925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8" name="Text 15"/>
          <p:cNvSpPr/>
          <p:nvPr/>
        </p:nvSpPr>
        <p:spPr>
          <a:xfrm>
            <a:off x="4983435" y="1534120"/>
            <a:ext cx="370330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POSITIVE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442913" y="2448520"/>
            <a:ext cx="2609841" cy="1626989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788" y="2591395"/>
            <a:ext cx="1075386" cy="22502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Zone 1: Negative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85788" y="2930723"/>
            <a:ext cx="6180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Prob &lt; 0.40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85788" y="3095030"/>
            <a:ext cx="23240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Model predicts low likelihood of Parkinsonian motor symptoms. Consistent with healthy control data.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585788" y="3716536"/>
            <a:ext cx="843855" cy="18752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1"/>
          <p:cNvSpPr/>
          <p:nvPr/>
        </p:nvSpPr>
        <p:spPr>
          <a:xfrm>
            <a:off x="585788" y="3716536"/>
            <a:ext cx="843855" cy="187523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4F4F0"/>
                </a:solidFill>
              </a:rPr>
              <a:t>ACTION: DISMISS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3267066" y="2448520"/>
            <a:ext cx="2609841" cy="1626989"/>
          </a:xfrm>
          <a:prstGeom prst="rect">
            <a:avLst/>
          </a:prstGeom>
          <a:solidFill>
            <a:srgbClr val="F4F4F0"/>
          </a:solidFill>
          <a:ln w="18288">
            <a:solidFill>
              <a:srgbClr val="1A1A1A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3409941" y="2591395"/>
            <a:ext cx="1298349" cy="22502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Zone 2: Inconclusive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3409941" y="2930723"/>
            <a:ext cx="10694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0.40 ≤ Prob ≤ 0.55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3409941" y="3095030"/>
            <a:ext cx="23240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The "Safety Buffer". Signal is ambiguous. Prevents false positives/negatives in borderline cases.</a:t>
            </a:r>
            <a:endParaRPr lang="en-US" sz="834" dirty="0"/>
          </a:p>
        </p:txBody>
      </p:sp>
      <p:sp>
        <p:nvSpPr>
          <p:cNvPr id="29" name="Shape 26"/>
          <p:cNvSpPr/>
          <p:nvPr/>
        </p:nvSpPr>
        <p:spPr>
          <a:xfrm>
            <a:off x="3409941" y="3716536"/>
            <a:ext cx="1260928" cy="187523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30" name="Text 27"/>
          <p:cNvSpPr/>
          <p:nvPr/>
        </p:nvSpPr>
        <p:spPr>
          <a:xfrm>
            <a:off x="3409941" y="3716536"/>
            <a:ext cx="1260928" cy="187523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4F4F0"/>
                </a:solidFill>
              </a:rPr>
              <a:t>ACTION: CLINICIAN REVIEW</a:t>
            </a:r>
            <a:endParaRPr lang="en-US" sz="621" dirty="0"/>
          </a:p>
        </p:txBody>
      </p:sp>
      <p:sp>
        <p:nvSpPr>
          <p:cNvPr id="31" name="Shape 28"/>
          <p:cNvSpPr/>
          <p:nvPr/>
        </p:nvSpPr>
        <p:spPr>
          <a:xfrm>
            <a:off x="6091219" y="2448520"/>
            <a:ext cx="2609869" cy="1626989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34094" y="2591395"/>
            <a:ext cx="999260" cy="22502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Zone 3: Positive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6234094" y="2930723"/>
            <a:ext cx="6180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Prob &gt; 0.55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6234094" y="3095030"/>
            <a:ext cx="23241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High likelihood of Parkinsonian features (bradykinesia/freezing) detected in the signal.</a:t>
            </a:r>
            <a:endParaRPr lang="en-US" sz="834" dirty="0"/>
          </a:p>
        </p:txBody>
      </p:sp>
      <p:sp>
        <p:nvSpPr>
          <p:cNvPr id="35" name="Shape 32"/>
          <p:cNvSpPr/>
          <p:nvPr/>
        </p:nvSpPr>
        <p:spPr>
          <a:xfrm>
            <a:off x="6234094" y="3716536"/>
            <a:ext cx="1380837" cy="18752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33"/>
          <p:cNvSpPr/>
          <p:nvPr/>
        </p:nvSpPr>
        <p:spPr>
          <a:xfrm>
            <a:off x="6234094" y="3716536"/>
            <a:ext cx="1380837" cy="187523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4F4F0"/>
                </a:solidFill>
              </a:rPr>
              <a:t>ACTION: FLAG FOR DIAGNOSIS</a:t>
            </a:r>
            <a:endParaRPr lang="en-US" sz="621" dirty="0"/>
          </a:p>
        </p:txBody>
      </p:sp>
      <p:sp>
        <p:nvSpPr>
          <p:cNvPr id="37" name="Shape 34"/>
          <p:cNvSpPr/>
          <p:nvPr/>
        </p:nvSpPr>
        <p:spPr>
          <a:xfrm>
            <a:off x="14288" y="4843463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38" name="Shape 35"/>
          <p:cNvSpPr/>
          <p:nvPr/>
        </p:nvSpPr>
        <p:spPr>
          <a:xfrm>
            <a:off x="14288" y="4843463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Text 36"/>
          <p:cNvSpPr/>
          <p:nvPr/>
        </p:nvSpPr>
        <p:spPr>
          <a:xfrm>
            <a:off x="157163" y="4918472"/>
            <a:ext cx="10805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DOC_ID: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PK_SVM_2026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8437466" y="4918472"/>
            <a:ext cx="549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PAGE 11/12</a:t>
            </a:r>
            <a:endParaRPr lang="en-US" sz="68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4" name="Shape 1"/>
          <p:cNvSpPr/>
          <p:nvPr/>
        </p:nvSpPr>
        <p:spPr>
          <a:xfrm>
            <a:off x="14288" y="285750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157163" y="89297"/>
            <a:ext cx="19450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DEPLOYMENT // STREAMLIT_INTERFACE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8236744" y="8929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CONFIDENTIAL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42913" y="1007269"/>
            <a:ext cx="8258175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585788"/>
            <a:ext cx="8258175" cy="450056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Streamlit Clinical Interface</a:t>
            </a:r>
            <a:endParaRPr lang="en-US" sz="1808" dirty="0"/>
          </a:p>
        </p:txBody>
      </p:sp>
      <p:sp>
        <p:nvSpPr>
          <p:cNvPr id="10" name="Text 7"/>
          <p:cNvSpPr/>
          <p:nvPr/>
        </p:nvSpPr>
        <p:spPr>
          <a:xfrm>
            <a:off x="442913" y="1282303"/>
            <a:ext cx="329206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The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app.py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module provides a secure,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lightweight web interface for immediate clinical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use.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7941" y="2169914"/>
            <a:ext cx="4161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Input: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084064" y="2068116"/>
            <a:ext cx="2650917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Clinicians paste raw time-series strings directly from sensor logs.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667941" y="2627114"/>
            <a:ext cx="55721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Process: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1225153" y="2525316"/>
            <a:ext cx="250982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Backend pipeline executes padding, filtering, and SVM classification.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667941" y="3084314"/>
            <a:ext cx="5143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Output: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1182291" y="2982516"/>
            <a:ext cx="255269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Instant diagnostic suggestion with safety flags.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442913" y="3654028"/>
            <a:ext cx="3292069" cy="721519"/>
          </a:xfrm>
          <a:prstGeom prst="rect">
            <a:avLst/>
          </a:prstGeom>
          <a:solidFill>
            <a:srgbClr val="E0E0E0"/>
          </a:solidFill>
          <a:ln w="18288">
            <a:solidFill>
              <a:srgbClr val="1A1A1A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442913" y="3654028"/>
            <a:ext cx="3292069" cy="72151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&gt; DEPLOYMENT_MODE: LOCAL / CLOUD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 &gt; LATENCY: &lt; 200ms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 &gt; ROLE: DECISION_SUPPORT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4092169" y="1221581"/>
            <a:ext cx="4608891" cy="321468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92169" y="1221581"/>
            <a:ext cx="4608891" cy="21431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8"/>
          <p:cNvSpPr/>
          <p:nvPr/>
        </p:nvSpPr>
        <p:spPr>
          <a:xfrm>
            <a:off x="4520794" y="1270695"/>
            <a:ext cx="14462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localhost:8501/parkinsons_classifier</a:t>
            </a:r>
            <a:endParaRPr lang="en-US" sz="621" dirty="0"/>
          </a:p>
        </p:txBody>
      </p:sp>
      <p:sp>
        <p:nvSpPr>
          <p:cNvPr id="22" name="Text 19"/>
          <p:cNvSpPr/>
          <p:nvPr/>
        </p:nvSpPr>
        <p:spPr>
          <a:xfrm>
            <a:off x="4235044" y="1578769"/>
            <a:ext cx="4323141" cy="27324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Parkinson's Signal Classifier v1.0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4235044" y="2030611"/>
            <a:ext cx="43231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RAW SIGNAL INPUT:</a:t>
            </a:r>
            <a:endParaRPr lang="en-US" sz="584" dirty="0"/>
          </a:p>
        </p:txBody>
      </p:sp>
      <p:sp>
        <p:nvSpPr>
          <p:cNvPr id="24" name="Shape 21"/>
          <p:cNvSpPr/>
          <p:nvPr/>
        </p:nvSpPr>
        <p:spPr>
          <a:xfrm>
            <a:off x="4235044" y="2289572"/>
            <a:ext cx="4323141" cy="571500"/>
          </a:xfrm>
          <a:prstGeom prst="rect">
            <a:avLst/>
          </a:prstGeom>
          <a:solidFill>
            <a:srgbClr val="F9F9F9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35044" y="2289572"/>
            <a:ext cx="4323141" cy="57150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[120, 124, 118, 130, 122, 119, 125, 121, 118, 120...]</a:t>
            </a:r>
            <a:endParaRPr lang="en-US" sz="621" dirty="0"/>
          </a:p>
        </p:txBody>
      </p:sp>
      <p:sp>
        <p:nvSpPr>
          <p:cNvPr id="26" name="Shape 23"/>
          <p:cNvSpPr/>
          <p:nvPr/>
        </p:nvSpPr>
        <p:spPr>
          <a:xfrm>
            <a:off x="4235044" y="2968228"/>
            <a:ext cx="857250" cy="375047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7" name="Text 24"/>
          <p:cNvSpPr/>
          <p:nvPr/>
        </p:nvSpPr>
        <p:spPr>
          <a:xfrm>
            <a:off x="4235044" y="2968228"/>
            <a:ext cx="857250" cy="37504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ANALYZE SIGNAL</a:t>
            </a:r>
            <a:endParaRPr lang="en-US" sz="584" dirty="0"/>
          </a:p>
        </p:txBody>
      </p:sp>
      <p:sp>
        <p:nvSpPr>
          <p:cNvPr id="28" name="Shape 25"/>
          <p:cNvSpPr/>
          <p:nvPr/>
        </p:nvSpPr>
        <p:spPr>
          <a:xfrm>
            <a:off x="4235044" y="3548658"/>
            <a:ext cx="4323141" cy="74473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9" name="Shape 26"/>
          <p:cNvSpPr/>
          <p:nvPr/>
        </p:nvSpPr>
        <p:spPr>
          <a:xfrm>
            <a:off x="4235044" y="3548658"/>
            <a:ext cx="28575" cy="744736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30" name="Text 27"/>
          <p:cNvSpPr/>
          <p:nvPr/>
        </p:nvSpPr>
        <p:spPr>
          <a:xfrm>
            <a:off x="4342200" y="3655814"/>
            <a:ext cx="61888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PREDICTION: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7996758" y="3655814"/>
            <a:ext cx="4542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POSITIVE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4342200" y="3827264"/>
            <a:ext cx="6539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PROBABILITY: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8252594" y="3827264"/>
            <a:ext cx="1984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0.82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4342200" y="4034433"/>
            <a:ext cx="41088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STATUS: HIGH CONFIDENCE (&gt; 0.55)</a:t>
            </a:r>
            <a:endParaRPr lang="en-US" sz="621" dirty="0"/>
          </a:p>
        </p:txBody>
      </p:sp>
      <p:sp>
        <p:nvSpPr>
          <p:cNvPr id="35" name="Shape 32"/>
          <p:cNvSpPr/>
          <p:nvPr/>
        </p:nvSpPr>
        <p:spPr>
          <a:xfrm>
            <a:off x="14288" y="4843463"/>
            <a:ext cx="9115425" cy="285750"/>
          </a:xfrm>
          <a:prstGeom prst="rect">
            <a:avLst/>
          </a:prstGeom>
          <a:solidFill>
            <a:srgbClr val="F4F4F0"/>
          </a:solidFill>
          <a:ln/>
        </p:spPr>
      </p:sp>
      <p:sp>
        <p:nvSpPr>
          <p:cNvPr id="36" name="Shape 33"/>
          <p:cNvSpPr/>
          <p:nvPr/>
        </p:nvSpPr>
        <p:spPr>
          <a:xfrm>
            <a:off x="14288" y="4843463"/>
            <a:ext cx="91154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7" name="Text 34"/>
          <p:cNvSpPr/>
          <p:nvPr/>
        </p:nvSpPr>
        <p:spPr>
          <a:xfrm>
            <a:off x="157163" y="4918472"/>
            <a:ext cx="10805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DOC_ID: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93025"/>
                </a:solidFill>
              </a:rPr>
              <a:t>PK_SVM_2026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8437466" y="4918472"/>
            <a:ext cx="549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PAGE 12/12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2026-02-17T15:28:53Z</dcterms:created>
  <dcterms:modified xsi:type="dcterms:W3CDTF">2026-02-17T15:28:53Z</dcterms:modified>
</cp:coreProperties>
</file>